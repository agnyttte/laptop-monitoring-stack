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24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3424F"/>
                </a:solidFill>
                <a:latin typeface="+mn-lt"/>
              </a:rPr>
              <a:t>Essential skill mentions across 10 adverts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Adverts (essential)</c:v>
                </c:pt>
              </c:strCache>
            </c:strRef>
          </c:tx>
          <c:spPr>
            <a:solidFill>
              <a:srgbClr val="E87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24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Infrastructure as Code</c:v>
                  </c:pt>
                  <c:pt idx="1">
                    <c:v>VMware</c:v>
                  </c:pt>
                  <c:pt idx="2">
                    <c:v>Veeam backup</c:v>
                  </c:pt>
                  <c:pt idx="3">
                    <c:v>Windows Server / AD</c:v>
                  </c:pt>
                  <c:pt idx="4">
                    <c:v>Communication</c:v>
                  </c:pt>
                  <c:pt idx="5">
                    <c:v>Linux</c:v>
                  </c:pt>
                  <c:pt idx="6">
                    <c:v>Monitoring / alerting</c:v>
                  </c:pt>
                  <c:pt idx="7">
                    <c:v>Cloud / M365 / Azure</c:v>
                  </c:pt>
                  <c:pt idx="8">
                    <c:v>Scripting / automation</c:v>
                  </c:pt>
                  <c:pt idx="9">
                    <c:v>Networking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24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2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Six-slide industry research for Task 3. Evidence: 10 dated job adverts (local, national, international), a skills tally, and cited market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Hilton Foods (2026) internal job description. Day-to-day duties are taken from its key accountabilities.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cited in Harvard style on the final slide. Limitation: ITJobsWatch counts only ads it tracks, and 12 ads is a very small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log and tally in Industry_Research_Advert_Log.xlsx. Sample limits: 10 adverts, several via agencies, two with unclear posting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employer and advert is listed with its source and date in the advert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Compared the tally with my Task 1.1 self-assessment. Scripting and communication were already priorities; the market added Linux as a new gap. Goals are drafts for Table 7. [Agne: confirm dates]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and certifications are my plan; AZ-900, ITIL and VMware certifications are named as desirable in the target job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PFD200 · Industry Research · Agne Makareviciute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Reading the market for a Junior IT Infrastructure Engineer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Industry research · PFD200 Professional Development · Agne Makareviciute ·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My target role: keeping systems running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Junior IT Infrastructure Engineer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Hilton Foods · Infrastructure Services, Huntingdon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5661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Keep physical and virtual servers healthy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Make sure every server is backed up daily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Support LAN, WAN and Wi-Fi (Cisco Meraki)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Control who gets system access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Out-of-hours support on a rota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fits my career direction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691640"/>
            <a:ext cx="3429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 is the next step from IT Support, where I already work on tickets, AD access and Ninja RMM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651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606040"/>
            <a:ext cx="3429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already touch its core tools: Veeam (DR tests), Meraki (switch upgrades) and PRTG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56616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520440"/>
            <a:ext cx="3429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Its first performance measure is uptime, which my monitoring project targets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Fewer graduate jobs, but infrastructure holds 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UK graduate job postings vs a year earlier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Indeed Hiring Lab,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applications per graduate vacancy at large UK employers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ISE,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£37.5k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median salary for UK Junior Infrastructure Engineer ads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ITJobsWatch,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14300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→ 12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05740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Junior Infrastructure Engineer ads, 6 months to Oct, 2025 vs 2026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ITJobsWatch,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my sub-field compares: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wider graduate market is shrinking, while junior infrastructure ads grew. That count is tiny (12 ads), so it shows direction, not a trend. Competition is real: my two LinkedIn adverts had 37 and 42 applicants within a week.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Employers want networking, scripting, cloud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89320" y="1097280"/>
            <a:ext cx="2697480" cy="352044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 counted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554480"/>
            <a:ext cx="246888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10 adverts, seen 28 Oct 2026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Only "essential" skills counted; "desirable" logged separately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Most common desirable: VMware, Kubernetes, Azure and VMware certifications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Checked against ITJobsWatch: problem-solving (50%), Windows (33%), Azure, Linux and VMware (25% each)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Who hires: local, national and international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LOCAL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Hilton Foods, Huntingdon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23317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Internal junior role. Only essential: willingness to learn. Offers training and a route from IT Support.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Leidos (Huntingdon) needs DV clearance; lowRISC (Cambridge) wants strong Linux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09728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234440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NATIONAL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Computacenter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2011680"/>
            <a:ext cx="23317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Junior Azure Engineer, but asks for "strong experience" in Azure, Kubernetes and IaC. A red flag for a junior title.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Ipswich role pays £40–45k at senior 2nd line level; Kent role pays £24.8k with full training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09728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234440"/>
            <a:ext cx="146304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12344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INTERNATIONAL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1645920"/>
            <a:ext cx="2331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Advania (MSP, Nordic group)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2011680"/>
            <a:ext cx="23317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London hybrid, £40–45k. Wants Veeam, Windows Server and basic PowerShell: my closest external match.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3566160"/>
            <a:ext cx="23317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Maven Securities graduate scheme names Prometheus and Grafana, the tools in my project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My gaps and plan: three to close, one to build 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37160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Adverts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My level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 7 goal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Scripting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6 of 10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Basic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Automate one routine IT Support task in PowerShell by 31 Mar 2027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Linux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4 of 10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Complete a Linux fundamentals course and run my stack on an Ubuntu VM by 28 Feb 2027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Communication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4 of 10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Basic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Present my monitoring project to the IT team by 31 Jan 2027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Azure / cloud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5 of 10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Basic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Pass AZ-900 Azure Fundamentals by 31 Jan 2027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Monitoring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5 of 10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Basic → closing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24F"/>
                          </a:solidFill>
                        </a:rPr>
                        <a:t>Strength to build on: project plus PRTG at work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My path: support → infrastructure → cloud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74980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NOW · 2026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 Support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Hilton Foods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Steps: FdSc Computing; DR testing; monitoring project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1463040"/>
            <a:ext cx="274320" cy="2743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NEXT · 2027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Junior IT Infrastructure Engineer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Hilton Foods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315468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Steps: AZ-900; PowerShell; Linux basics; ITIL 4 Foundation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146304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2–3 YEARS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Infrastructure Engineer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Steps: AZ-104; CompTIA Network+; VMware exposure; consider BSc top-up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146304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LONGER TERM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14884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Cloud / Senior Infrastructure Engineer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0" y="315468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Steps: Azure architecture; IaC (Terraform); lead projects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Advania UK (2026) Junior Infrastructure Engineer. Available at: https://belong.advania.co.uk/jobs/8610432-junior-infrastructure-engineer (Accessed: 28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Computacenter (2026) Junior Azure Engineer [LinkedIn]. Available at: https://www.linkedin.com/jobs/view/4483567623/ (Accessed: 28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Hilton Foods (2026) Junior IT Infrastructure Engineer: job description. Internal document (Accessed: 28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Indeed Hiring Lab (2026) UK labour market mid-year update. Available at: https://www.hiringlab.org/uk/?p=14268 (Accessed: 10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Institute of Student Employers (2025) Student Recruitment Survey 2025. Available at: https://ise.org.uk/knowledge/research/491/ise_student_recruitment_survey_2025 (Accessed: 10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ITJobsWatch (2026) Junior Infrastructure Engineer: UK job trends. Available at: https://www.itjobswatch.co.uk/jobs/uk/junior%20infrastructure%20engineer.do (Accessed: 28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lowRISC CIC (2026) Infrastructure Support Engineer [LinkedIn]. Available at: https://www.linkedin.com/jobs/view/4480560283/ (Accessed: 28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Maven Securities (2026) Graduate Infrastructure Engineer Programme. Available at: https://job-boards.greenhouse.io/mavensecuritiesholdingltd/jobs/8105020 (Accessed: 28 October 2026).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Full advert log (10 adverts): Industry_Research_Advert_Log.xlsx in the GitHub repository.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ra Monitor">
  <a:themeElements>
    <a:clrScheme name="Infra Monitor">
      <a:dk1>
        <a:srgbClr val="1B2630"/>
      </a:dk1>
      <a:lt1>
        <a:srgbClr val="FFFFFF"/>
      </a:lt1>
      <a:dk2>
        <a:srgbClr val="33424F"/>
      </a:dk2>
      <a:lt2>
        <a:srgbClr val="EEF2F4"/>
      </a:lt2>
      <a:accent1>
        <a:srgbClr val="E8772E"/>
      </a:accent1>
      <a:accent2>
        <a:srgbClr val="2A8C82"/>
      </a:accent2>
      <a:accent3>
        <a:srgbClr val="5B6B78"/>
      </a:accent3>
      <a:accent4>
        <a:srgbClr val="C9D3DA"/>
      </a:accent4>
      <a:accent5>
        <a:srgbClr val="B24A3B"/>
      </a:accent5>
      <a:accent6>
        <a:srgbClr val="F2B33D"/>
      </a:accent6>
      <a:hlink>
        <a:srgbClr val="2A8C82"/>
      </a:hlink>
      <a:folHlink>
        <a:srgbClr val="5B6B78"/>
      </a:folHlink>
    </a:clrScheme>
    <a:fontScheme name="Infra Moni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Research: Junior IT Infrastructure Engineer</dc:title>
  <dc:subject>PptxGenJS Presentation</dc:subject>
  <dc:creator>Agne Makareviciute</dc:creator>
  <cp:lastModifiedBy>Agne Makareviciute</cp:lastModifiedBy>
  <cp:revision>1</cp:revision>
  <dcterms:created xsi:type="dcterms:W3CDTF">2026-10-28T11:30:43Z</dcterms:created>
  <dcterms:modified xsi:type="dcterms:W3CDTF">2026-10-28T11:30:43Z</dcterms:modified>
</cp:coreProperties>
</file>